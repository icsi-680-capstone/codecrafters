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jpeg"/><Relationship Id="rId6" Type="http://schemas.openxmlformats.org/officeDocument/2006/relationships/image" Target="../media/image-1-6.jpe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4114800"/>
          </a:xfrm>
          <a:prstGeom prst="rect">
            <a:avLst/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43891200" cy="164592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616880" y="4279392"/>
            <a:ext cx="274320" cy="27614880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85800"/>
            <a:ext cx="2560320" cy="2560320"/>
          </a:xfrm>
          <a:prstGeom prst="ellipse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8580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461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657600" y="411480"/>
            <a:ext cx="2560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00" b="1" spc="-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CodeCrafters</a:t>
            </a:r>
            <a:endParaRPr lang="en-US" sz="11600" dirty="0"/>
          </a:p>
        </p:txBody>
      </p:sp>
      <p:sp>
        <p:nvSpPr>
          <p:cNvPr id="8" name="Text 6"/>
          <p:cNvSpPr/>
          <p:nvPr/>
        </p:nvSpPr>
        <p:spPr>
          <a:xfrm>
            <a:off x="3657600" y="2331720"/>
            <a:ext cx="2743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F6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Two-Player Collaborative Game for Learning Python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0" y="3154680"/>
            <a:ext cx="2743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680 — Software Engineering  ·  University at Albany, SUNY  ·  Showcase Day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1272480" y="502920"/>
            <a:ext cx="12070080" cy="3291840"/>
          </a:xfrm>
          <a:prstGeom prst="rect">
            <a:avLst/>
          </a:prstGeom>
          <a:solidFill>
            <a:srgbClr val="2E0E40"/>
          </a:solidFill>
          <a:ln w="19050">
            <a:solidFill>
              <a:srgbClr val="EEB2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0" y="594360"/>
            <a:ext cx="11612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 — CodeCrafters</a:t>
            </a:r>
            <a:endParaRPr lang="en-US" sz="2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6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 Mekala  ·  Sai Satwik Bikumandla</a:t>
            </a:r>
            <a:endParaRPr lang="en-US" sz="2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6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Mehak Seth  ·  Dileep Reddy Chinneluka</a:t>
            </a:r>
            <a:endParaRPr lang="en-US" sz="2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at Albany  ·  Class of 2026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4443984"/>
            <a:ext cx="13716000" cy="7132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E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4443984"/>
            <a:ext cx="13716000" cy="868680"/>
          </a:xfrm>
          <a:prstGeom prst="rect">
            <a:avLst/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5312664"/>
            <a:ext cx="13716000" cy="54864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617720"/>
            <a:ext cx="521208" cy="5212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71600" y="4443984"/>
            <a:ext cx="1271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68680" y="5449824"/>
            <a:ext cx="12893040" cy="5943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CodeCrafters is a browser-based, two-player collaborative Python learning game designed for grade 8 students. Two students are matched online and must work together to build a virtual school campus by solving Python coding challenges. As both players complete their assigned questions, the corresponding building is unlocked and animated on their shared campus.</a:t>
            </a:r>
            <a:endParaRPr lang="en-US" sz="2000" dirty="0"/>
          </a:p>
          <a:p>
            <a:pPr algn="l" indent="0" marL="0">
              <a:lnSpc>
                <a:spcPct val="125000"/>
              </a:lnSpc>
              <a:spcAft>
                <a:spcPts val="800"/>
              </a:spcAft>
              <a:buNone/>
            </a:pPr>
            <a:endParaRPr lang="en-US" sz="2000" dirty="0"/>
          </a:p>
          <a:p>
            <a:pPr algn="l"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is built around interest-based learning: students choose which building they want to construct, and every Python concept is taught through the analogy of that building.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457200" y="12033504"/>
            <a:ext cx="13716000" cy="84124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E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12033504"/>
            <a:ext cx="13716000" cy="868680"/>
          </a:xfrm>
          <a:prstGeom prst="rect">
            <a:avLst/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12902184"/>
            <a:ext cx="13716000" cy="54864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2207240"/>
            <a:ext cx="521208" cy="5212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371600" y="12033504"/>
            <a:ext cx="1271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868680" y="13039344"/>
            <a:ext cx="12893040" cy="7315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461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collaborative coding game?
</a:t>
            </a:r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intro-programming is often solitary and decoupled from a narrative. Novices lose motivation when progress is invisible.
</a:t>
            </a:r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461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CodeCrafters targets three challenges:
</a:t>
            </a:r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Social isolation during practice
</a:t>
            </a:r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visibility of learning progress
</a:t>
            </a:r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Fragmented practice of fundamentals
</a:t>
            </a:r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2000" i="1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completed challenge raises another building on a shared campus — making learning visible, paced, and playful.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457200" y="20903184"/>
            <a:ext cx="13716000" cy="960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E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7200" y="20903184"/>
            <a:ext cx="13716000" cy="868680"/>
          </a:xfrm>
          <a:prstGeom prst="rect">
            <a:avLst/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57200" y="21771864"/>
            <a:ext cx="13716000" cy="54864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1076920"/>
            <a:ext cx="521208" cy="5212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371600" y="20903184"/>
            <a:ext cx="1271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Roles</a:t>
            </a:r>
            <a:endParaRPr lang="en-US" sz="3000" dirty="0"/>
          </a:p>
        </p:txBody>
      </p:sp>
      <p:sp>
        <p:nvSpPr>
          <p:cNvPr id="29" name="Shape 24"/>
          <p:cNvSpPr/>
          <p:nvPr/>
        </p:nvSpPr>
        <p:spPr>
          <a:xfrm>
            <a:off x="868680" y="21954744"/>
            <a:ext cx="12893040" cy="3749040"/>
          </a:xfrm>
          <a:prstGeom prst="rect">
            <a:avLst/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097280" y="22091904"/>
            <a:ext cx="1243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500" kern="0" dirty="0">
                <a:solidFill>
                  <a:srgbClr val="EEB2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</a:t>
            </a:r>
            <a:endParaRPr lang="en-US" sz="2600" dirty="0"/>
          </a:p>
        </p:txBody>
      </p:sp>
      <p:sp>
        <p:nvSpPr>
          <p:cNvPr id="31" name="Text 26"/>
          <p:cNvSpPr/>
          <p:nvPr/>
        </p:nvSpPr>
        <p:spPr>
          <a:xfrm>
            <a:off x="1097280" y="22960584"/>
            <a:ext cx="12435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the structure — writes variables, inputs, and data scaffolding that give each building its shape and identity.</a:t>
            </a:r>
            <a:endParaRPr lang="en-US" sz="2000" dirty="0"/>
          </a:p>
        </p:txBody>
      </p:sp>
      <p:sp>
        <p:nvSpPr>
          <p:cNvPr id="32" name="Shape 27"/>
          <p:cNvSpPr/>
          <p:nvPr/>
        </p:nvSpPr>
        <p:spPr>
          <a:xfrm>
            <a:off x="868680" y="25978104"/>
            <a:ext cx="12893040" cy="3749040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1097280" y="26115264"/>
            <a:ext cx="1243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500" kern="0" dirty="0">
                <a:solidFill>
                  <a:srgbClr val="461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</a:t>
            </a:r>
            <a:endParaRPr lang="en-US" sz="2600" dirty="0"/>
          </a:p>
        </p:txBody>
      </p:sp>
      <p:sp>
        <p:nvSpPr>
          <p:cNvPr id="34" name="Text 29"/>
          <p:cNvSpPr/>
          <p:nvPr/>
        </p:nvSpPr>
        <p:spPr>
          <a:xfrm>
            <a:off x="1097280" y="26983944"/>
            <a:ext cx="12435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it to life — writes loops, conditionals, and data that make each room functional and ready for students to use.</a:t>
            </a:r>
            <a:endParaRPr lang="en-US" sz="2000" dirty="0"/>
          </a:p>
        </p:txBody>
      </p:sp>
      <p:sp>
        <p:nvSpPr>
          <p:cNvPr id="35" name="Shape 30"/>
          <p:cNvSpPr/>
          <p:nvPr/>
        </p:nvSpPr>
        <p:spPr>
          <a:xfrm>
            <a:off x="15087600" y="4443984"/>
            <a:ext cx="13716000" cy="16194024"/>
          </a:xfrm>
          <a:prstGeom prst="rect">
            <a:avLst/>
          </a:prstGeom>
          <a:solidFill>
            <a:srgbClr val="FFFFFF"/>
          </a:solidFill>
          <a:ln w="9525">
            <a:solidFill>
              <a:srgbClr val="D7D0E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15087600" y="4443984"/>
            <a:ext cx="13716000" cy="868680"/>
          </a:xfrm>
          <a:prstGeom prst="rect">
            <a:avLst/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5087600" y="5312664"/>
            <a:ext cx="13716000" cy="54864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3632" y="4617720"/>
            <a:ext cx="521208" cy="52120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6002000" y="4443984"/>
            <a:ext cx="1271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Screenshots</a:t>
            </a:r>
            <a:endParaRPr lang="en-US" sz="30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67760" y="5449824"/>
            <a:ext cx="11155680" cy="697230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6367760" y="1247698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4B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choose a building, level, and partner</a:t>
            </a:r>
            <a:endParaRPr lang="en-US" sz="17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67760" y="13043916"/>
            <a:ext cx="11155680" cy="697230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6367760" y="20071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4B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screen — code editor, campus canvas, and real-time chat</a:t>
            </a:r>
            <a:endParaRPr lang="en-US" sz="1700" dirty="0"/>
          </a:p>
        </p:txBody>
      </p:sp>
      <p:sp>
        <p:nvSpPr>
          <p:cNvPr id="44" name="Shape 36"/>
          <p:cNvSpPr/>
          <p:nvPr/>
        </p:nvSpPr>
        <p:spPr>
          <a:xfrm>
            <a:off x="15087600" y="21095208"/>
            <a:ext cx="13716000" cy="9509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E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15087600" y="21095208"/>
            <a:ext cx="13716000" cy="868680"/>
          </a:xfrm>
          <a:prstGeom prst="rect">
            <a:avLst/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15087600" y="21963888"/>
            <a:ext cx="13716000" cy="54864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43632" y="21268944"/>
            <a:ext cx="521208" cy="521208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6002000" y="21095208"/>
            <a:ext cx="1271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Buildings to Construct</a:t>
            </a:r>
            <a:endParaRPr lang="en-US" sz="3000" dirty="0"/>
          </a:p>
        </p:txBody>
      </p:sp>
      <p:sp>
        <p:nvSpPr>
          <p:cNvPr id="49" name="Shape 40"/>
          <p:cNvSpPr/>
          <p:nvPr/>
        </p:nvSpPr>
        <p:spPr>
          <a:xfrm>
            <a:off x="15499080" y="22119336"/>
            <a:ext cx="12893040" cy="1508760"/>
          </a:xfrm>
          <a:prstGeom prst="rect">
            <a:avLst/>
          </a:prstGeom>
          <a:solidFill>
            <a:srgbClr val="FAF7F2"/>
          </a:solidFill>
          <a:ln w="6350">
            <a:solidFill>
              <a:srgbClr val="D7D0E0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15499080" y="22119336"/>
            <a:ext cx="164592" cy="1508760"/>
          </a:xfrm>
          <a:prstGeom prst="rect">
            <a:avLst/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10560" y="22357080"/>
            <a:ext cx="1024128" cy="1024128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17145000" y="2225649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61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Library</a:t>
            </a:r>
            <a:endParaRPr lang="en-US" sz="2600" dirty="0"/>
          </a:p>
        </p:txBody>
      </p:sp>
      <p:sp>
        <p:nvSpPr>
          <p:cNvPr id="53" name="Text 43"/>
          <p:cNvSpPr/>
          <p:nvPr/>
        </p:nvSpPr>
        <p:spPr>
          <a:xfrm>
            <a:off x="17145000" y="230154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4B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strings</a:t>
            </a:r>
            <a:endParaRPr lang="en-US" sz="2000" dirty="0"/>
          </a:p>
        </p:txBody>
      </p:sp>
      <p:sp>
        <p:nvSpPr>
          <p:cNvPr id="54" name="Shape 44"/>
          <p:cNvSpPr/>
          <p:nvPr/>
        </p:nvSpPr>
        <p:spPr>
          <a:xfrm>
            <a:off x="15499080" y="23810976"/>
            <a:ext cx="12893040" cy="1508760"/>
          </a:xfrm>
          <a:prstGeom prst="rect">
            <a:avLst/>
          </a:prstGeom>
          <a:solidFill>
            <a:srgbClr val="FAF7F2"/>
          </a:solidFill>
          <a:ln w="6350">
            <a:solidFill>
              <a:srgbClr val="D7D0E0"/>
            </a:solidFill>
            <a:prstDash val="solid"/>
          </a:ln>
        </p:spPr>
      </p:sp>
      <p:sp>
        <p:nvSpPr>
          <p:cNvPr id="55" name="Shape 45"/>
          <p:cNvSpPr/>
          <p:nvPr/>
        </p:nvSpPr>
        <p:spPr>
          <a:xfrm>
            <a:off x="15499080" y="23810976"/>
            <a:ext cx="164592" cy="1508760"/>
          </a:xfrm>
          <a:prstGeom prst="rect">
            <a:avLst/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10560" y="24048720"/>
            <a:ext cx="1024128" cy="1024128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17145000" y="2394813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61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Classroom</a:t>
            </a:r>
            <a:endParaRPr lang="en-US" sz="2600" dirty="0"/>
          </a:p>
        </p:txBody>
      </p:sp>
      <p:sp>
        <p:nvSpPr>
          <p:cNvPr id="58" name="Text 47"/>
          <p:cNvSpPr/>
          <p:nvPr/>
        </p:nvSpPr>
        <p:spPr>
          <a:xfrm>
            <a:off x="17145000" y="2470708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4B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2000" dirty="0"/>
          </a:p>
        </p:txBody>
      </p:sp>
      <p:sp>
        <p:nvSpPr>
          <p:cNvPr id="59" name="Shape 48"/>
          <p:cNvSpPr/>
          <p:nvPr/>
        </p:nvSpPr>
        <p:spPr>
          <a:xfrm>
            <a:off x="15499080" y="25502616"/>
            <a:ext cx="12893040" cy="1508760"/>
          </a:xfrm>
          <a:prstGeom prst="rect">
            <a:avLst/>
          </a:prstGeom>
          <a:solidFill>
            <a:srgbClr val="FAF7F2"/>
          </a:solidFill>
          <a:ln w="6350">
            <a:solidFill>
              <a:srgbClr val="D7D0E0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15499080" y="25502616"/>
            <a:ext cx="164592" cy="1508760"/>
          </a:xfrm>
          <a:prstGeom prst="rect">
            <a:avLst/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910560" y="25740360"/>
            <a:ext cx="1024128" cy="1024128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17145000" y="2563977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61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Cafeteria</a:t>
            </a:r>
            <a:endParaRPr lang="en-US" sz="2600" dirty="0"/>
          </a:p>
        </p:txBody>
      </p:sp>
      <p:sp>
        <p:nvSpPr>
          <p:cNvPr id="63" name="Text 51"/>
          <p:cNvSpPr/>
          <p:nvPr/>
        </p:nvSpPr>
        <p:spPr>
          <a:xfrm>
            <a:off x="17145000" y="2639872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4B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</a:t>
            </a:r>
            <a:endParaRPr lang="en-US" sz="2000" dirty="0"/>
          </a:p>
        </p:txBody>
      </p:sp>
      <p:sp>
        <p:nvSpPr>
          <p:cNvPr id="64" name="Shape 52"/>
          <p:cNvSpPr/>
          <p:nvPr/>
        </p:nvSpPr>
        <p:spPr>
          <a:xfrm>
            <a:off x="15499080" y="27194256"/>
            <a:ext cx="12893040" cy="1508760"/>
          </a:xfrm>
          <a:prstGeom prst="rect">
            <a:avLst/>
          </a:prstGeom>
          <a:solidFill>
            <a:srgbClr val="FAF7F2"/>
          </a:solidFill>
          <a:ln w="6350">
            <a:solidFill>
              <a:srgbClr val="D7D0E0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15499080" y="27194256"/>
            <a:ext cx="164592" cy="1508760"/>
          </a:xfrm>
          <a:prstGeom prst="rect">
            <a:avLst/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10560" y="27432000"/>
            <a:ext cx="1024128" cy="1024128"/>
          </a:xfrm>
          <a:prstGeom prst="rect">
            <a:avLst/>
          </a:prstGeom>
        </p:spPr>
      </p:pic>
      <p:sp>
        <p:nvSpPr>
          <p:cNvPr id="67" name="Text 54"/>
          <p:cNvSpPr/>
          <p:nvPr/>
        </p:nvSpPr>
        <p:spPr>
          <a:xfrm>
            <a:off x="17145000" y="2733141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61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Science Lab</a:t>
            </a:r>
            <a:endParaRPr lang="en-US" sz="2600" dirty="0"/>
          </a:p>
        </p:txBody>
      </p:sp>
      <p:sp>
        <p:nvSpPr>
          <p:cNvPr id="68" name="Text 55"/>
          <p:cNvSpPr/>
          <p:nvPr/>
        </p:nvSpPr>
        <p:spPr>
          <a:xfrm>
            <a:off x="17145000" y="28090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4B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2000" dirty="0"/>
          </a:p>
        </p:txBody>
      </p:sp>
      <p:sp>
        <p:nvSpPr>
          <p:cNvPr id="69" name="Shape 56"/>
          <p:cNvSpPr/>
          <p:nvPr/>
        </p:nvSpPr>
        <p:spPr>
          <a:xfrm>
            <a:off x="15499080" y="28885896"/>
            <a:ext cx="12893040" cy="1508760"/>
          </a:xfrm>
          <a:prstGeom prst="rect">
            <a:avLst/>
          </a:prstGeom>
          <a:solidFill>
            <a:srgbClr val="FAF7F2"/>
          </a:solidFill>
          <a:ln w="6350">
            <a:solidFill>
              <a:srgbClr val="D7D0E0"/>
            </a:solidFill>
            <a:prstDash val="solid"/>
          </a:ln>
        </p:spPr>
      </p:sp>
      <p:sp>
        <p:nvSpPr>
          <p:cNvPr id="70" name="Shape 57"/>
          <p:cNvSpPr/>
          <p:nvPr/>
        </p:nvSpPr>
        <p:spPr>
          <a:xfrm>
            <a:off x="15499080" y="28885896"/>
            <a:ext cx="164592" cy="1508760"/>
          </a:xfrm>
          <a:prstGeom prst="rect">
            <a:avLst/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pic>
        <p:nvPicPr>
          <p:cNvPr id="7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910560" y="29123640"/>
            <a:ext cx="1024128" cy="1024128"/>
          </a:xfrm>
          <a:prstGeom prst="rect">
            <a:avLst/>
          </a:prstGeom>
        </p:spPr>
      </p:pic>
      <p:sp>
        <p:nvSpPr>
          <p:cNvPr id="72" name="Text 58"/>
          <p:cNvSpPr/>
          <p:nvPr/>
        </p:nvSpPr>
        <p:spPr>
          <a:xfrm>
            <a:off x="17145000" y="2902305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61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Playground</a:t>
            </a:r>
            <a:endParaRPr lang="en-US" sz="2600" dirty="0"/>
          </a:p>
        </p:txBody>
      </p:sp>
      <p:sp>
        <p:nvSpPr>
          <p:cNvPr id="73" name="Text 59"/>
          <p:cNvSpPr/>
          <p:nvPr/>
        </p:nvSpPr>
        <p:spPr>
          <a:xfrm>
            <a:off x="17145000" y="2978200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4B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loops</a:t>
            </a:r>
            <a:endParaRPr lang="en-US" sz="2000" dirty="0"/>
          </a:p>
        </p:txBody>
      </p:sp>
      <p:sp>
        <p:nvSpPr>
          <p:cNvPr id="74" name="Shape 60"/>
          <p:cNvSpPr/>
          <p:nvPr/>
        </p:nvSpPr>
        <p:spPr>
          <a:xfrm>
            <a:off x="29718000" y="4443984"/>
            <a:ext cx="13716000" cy="868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E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75" name="Shape 61"/>
          <p:cNvSpPr/>
          <p:nvPr/>
        </p:nvSpPr>
        <p:spPr>
          <a:xfrm>
            <a:off x="29718000" y="4443984"/>
            <a:ext cx="13716000" cy="868680"/>
          </a:xfrm>
          <a:prstGeom prst="rect">
            <a:avLst/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76" name="Shape 62"/>
          <p:cNvSpPr/>
          <p:nvPr/>
        </p:nvSpPr>
        <p:spPr>
          <a:xfrm>
            <a:off x="29718000" y="5312664"/>
            <a:ext cx="13716000" cy="54864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pic>
        <p:nvPicPr>
          <p:cNvPr id="7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974032" y="4617720"/>
            <a:ext cx="521208" cy="521208"/>
          </a:xfrm>
          <a:prstGeom prst="rect">
            <a:avLst/>
          </a:prstGeom>
        </p:spPr>
      </p:pic>
      <p:sp>
        <p:nvSpPr>
          <p:cNvPr id="78" name="Text 63"/>
          <p:cNvSpPr/>
          <p:nvPr/>
        </p:nvSpPr>
        <p:spPr>
          <a:xfrm>
            <a:off x="30632400" y="4443984"/>
            <a:ext cx="1271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79" name="Shape 64"/>
          <p:cNvSpPr/>
          <p:nvPr/>
        </p:nvSpPr>
        <p:spPr>
          <a:xfrm>
            <a:off x="30220920" y="5632704"/>
            <a:ext cx="6195060" cy="1783080"/>
          </a:xfrm>
          <a:prstGeom prst="rect">
            <a:avLst/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80" name="Text 65"/>
          <p:cNvSpPr/>
          <p:nvPr/>
        </p:nvSpPr>
        <p:spPr>
          <a:xfrm>
            <a:off x="30220920" y="5632704"/>
            <a:ext cx="61950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EB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EB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Client</a:t>
            </a:r>
            <a:endParaRPr lang="en-US" sz="1800" dirty="0"/>
          </a:p>
        </p:txBody>
      </p:sp>
      <p:sp>
        <p:nvSpPr>
          <p:cNvPr id="81" name="Shape 66"/>
          <p:cNvSpPr/>
          <p:nvPr/>
        </p:nvSpPr>
        <p:spPr>
          <a:xfrm>
            <a:off x="36736020" y="5632704"/>
            <a:ext cx="6195060" cy="1783080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sp>
        <p:nvSpPr>
          <p:cNvPr id="82" name="Text 67"/>
          <p:cNvSpPr/>
          <p:nvPr/>
        </p:nvSpPr>
        <p:spPr>
          <a:xfrm>
            <a:off x="36736020" y="5632704"/>
            <a:ext cx="61950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461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461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Client</a:t>
            </a:r>
            <a:endParaRPr lang="en-US" sz="1800" dirty="0"/>
          </a:p>
        </p:txBody>
      </p:sp>
      <p:sp>
        <p:nvSpPr>
          <p:cNvPr id="83" name="Shape 68"/>
          <p:cNvSpPr/>
          <p:nvPr/>
        </p:nvSpPr>
        <p:spPr>
          <a:xfrm>
            <a:off x="36576000" y="7415784"/>
            <a:ext cx="0" cy="502920"/>
          </a:xfrm>
          <a:prstGeom prst="line">
            <a:avLst/>
          </a:prstGeom>
          <a:noFill/>
          <a:ln w="50800">
            <a:solidFill>
              <a:srgbClr val="461660"/>
            </a:solidFill>
            <a:prstDash val="solid"/>
            <a:tailEnd type="triangle"/>
          </a:ln>
        </p:spPr>
      </p:sp>
      <p:sp>
        <p:nvSpPr>
          <p:cNvPr id="84" name="Text 69"/>
          <p:cNvSpPr/>
          <p:nvPr/>
        </p:nvSpPr>
        <p:spPr>
          <a:xfrm>
            <a:off x="36713160" y="75072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B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/ REST</a:t>
            </a:r>
            <a:endParaRPr lang="en-US" sz="1500" dirty="0"/>
          </a:p>
        </p:txBody>
      </p:sp>
      <p:sp>
        <p:nvSpPr>
          <p:cNvPr id="85" name="Shape 70"/>
          <p:cNvSpPr/>
          <p:nvPr/>
        </p:nvSpPr>
        <p:spPr>
          <a:xfrm>
            <a:off x="30220920" y="8010144"/>
            <a:ext cx="12710160" cy="1783080"/>
          </a:xfrm>
          <a:prstGeom prst="rect">
            <a:avLst/>
          </a:prstGeom>
          <a:solidFill>
            <a:srgbClr val="2E0E40"/>
          </a:solidFill>
          <a:ln w="12700">
            <a:solidFill>
              <a:srgbClr val="2E0E40"/>
            </a:solidFill>
            <a:prstDash val="solid"/>
          </a:ln>
        </p:spPr>
      </p:sp>
      <p:sp>
        <p:nvSpPr>
          <p:cNvPr id="86" name="Text 71"/>
          <p:cNvSpPr/>
          <p:nvPr/>
        </p:nvSpPr>
        <p:spPr>
          <a:xfrm>
            <a:off x="30220920" y="8010144"/>
            <a:ext cx="12710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Express  ·  Socket.IO</a:t>
            </a:r>
            <a:endParaRPr lang="en-US" sz="1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state  ·  Auth  ·  Python runner</a:t>
            </a:r>
            <a:endParaRPr lang="en-US" sz="1800" dirty="0"/>
          </a:p>
        </p:txBody>
      </p:sp>
      <p:sp>
        <p:nvSpPr>
          <p:cNvPr id="87" name="Shape 72"/>
          <p:cNvSpPr/>
          <p:nvPr/>
        </p:nvSpPr>
        <p:spPr>
          <a:xfrm>
            <a:off x="36576000" y="9793224"/>
            <a:ext cx="0" cy="502920"/>
          </a:xfrm>
          <a:prstGeom prst="line">
            <a:avLst/>
          </a:prstGeom>
          <a:noFill/>
          <a:ln w="50800">
            <a:solidFill>
              <a:srgbClr val="461660"/>
            </a:solidFill>
            <a:prstDash val="solid"/>
            <a:tailEnd type="triangle"/>
          </a:ln>
        </p:spPr>
      </p:sp>
      <p:sp>
        <p:nvSpPr>
          <p:cNvPr id="88" name="Shape 73"/>
          <p:cNvSpPr/>
          <p:nvPr/>
        </p:nvSpPr>
        <p:spPr>
          <a:xfrm>
            <a:off x="30220920" y="10387584"/>
            <a:ext cx="12710160" cy="1508760"/>
          </a:xfrm>
          <a:prstGeom prst="rect">
            <a:avLst/>
          </a:prstGeom>
          <a:solidFill>
            <a:srgbClr val="FFFFFF"/>
          </a:solidFill>
          <a:ln w="31750">
            <a:solidFill>
              <a:srgbClr val="461660"/>
            </a:solidFill>
            <a:prstDash val="solid"/>
          </a:ln>
        </p:spPr>
      </p:sp>
      <p:sp>
        <p:nvSpPr>
          <p:cNvPr id="89" name="Text 74"/>
          <p:cNvSpPr/>
          <p:nvPr/>
        </p:nvSpPr>
        <p:spPr>
          <a:xfrm>
            <a:off x="30220920" y="10387584"/>
            <a:ext cx="12710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461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461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 ·  sessions  ·  players</a:t>
            </a:r>
            <a:endParaRPr lang="en-US" sz="1800" dirty="0"/>
          </a:p>
        </p:txBody>
      </p:sp>
      <p:sp>
        <p:nvSpPr>
          <p:cNvPr id="90" name="Shape 75"/>
          <p:cNvSpPr/>
          <p:nvPr/>
        </p:nvSpPr>
        <p:spPr>
          <a:xfrm>
            <a:off x="29718000" y="13542264"/>
            <a:ext cx="13716000" cy="960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E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91" name="Shape 76"/>
          <p:cNvSpPr/>
          <p:nvPr/>
        </p:nvSpPr>
        <p:spPr>
          <a:xfrm>
            <a:off x="29718000" y="13542264"/>
            <a:ext cx="13716000" cy="868680"/>
          </a:xfrm>
          <a:prstGeom prst="rect">
            <a:avLst/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92" name="Shape 77"/>
          <p:cNvSpPr/>
          <p:nvPr/>
        </p:nvSpPr>
        <p:spPr>
          <a:xfrm>
            <a:off x="29718000" y="14410944"/>
            <a:ext cx="13716000" cy="54864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pic>
        <p:nvPicPr>
          <p:cNvPr id="9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974032" y="13716000"/>
            <a:ext cx="521208" cy="521208"/>
          </a:xfrm>
          <a:prstGeom prst="rect">
            <a:avLst/>
          </a:prstGeom>
        </p:spPr>
      </p:pic>
      <p:sp>
        <p:nvSpPr>
          <p:cNvPr id="94" name="Text 78"/>
          <p:cNvSpPr/>
          <p:nvPr/>
        </p:nvSpPr>
        <p:spPr>
          <a:xfrm>
            <a:off x="30632400" y="13542264"/>
            <a:ext cx="1271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95" name="Shape 79"/>
          <p:cNvSpPr/>
          <p:nvPr/>
        </p:nvSpPr>
        <p:spPr>
          <a:xfrm>
            <a:off x="30175200" y="14822424"/>
            <a:ext cx="256032" cy="256032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sp>
        <p:nvSpPr>
          <p:cNvPr id="96" name="Text 80"/>
          <p:cNvSpPr/>
          <p:nvPr/>
        </p:nvSpPr>
        <p:spPr>
          <a:xfrm>
            <a:off x="30632400" y="14639544"/>
            <a:ext cx="1243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61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</a:t>
            </a:r>
            <a:endParaRPr lang="en-US" sz="2000" dirty="0"/>
          </a:p>
        </p:txBody>
      </p:sp>
      <p:sp>
        <p:nvSpPr>
          <p:cNvPr id="97" name="Text 81"/>
          <p:cNvSpPr/>
          <p:nvPr/>
        </p:nvSpPr>
        <p:spPr>
          <a:xfrm>
            <a:off x="30632400" y="15279624"/>
            <a:ext cx="1243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players' code, chat, and campus updates sync instantly via Socket.IO.</a:t>
            </a:r>
            <a:endParaRPr lang="en-US" sz="1800" dirty="0"/>
          </a:p>
        </p:txBody>
      </p:sp>
      <p:sp>
        <p:nvSpPr>
          <p:cNvPr id="98" name="Shape 82"/>
          <p:cNvSpPr/>
          <p:nvPr/>
        </p:nvSpPr>
        <p:spPr>
          <a:xfrm>
            <a:off x="30175200" y="16194024"/>
            <a:ext cx="256032" cy="256032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sp>
        <p:nvSpPr>
          <p:cNvPr id="99" name="Text 83"/>
          <p:cNvSpPr/>
          <p:nvPr/>
        </p:nvSpPr>
        <p:spPr>
          <a:xfrm>
            <a:off x="30632400" y="16011144"/>
            <a:ext cx="1243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61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Python runner</a:t>
            </a:r>
            <a:endParaRPr lang="en-US" sz="2000" dirty="0"/>
          </a:p>
        </p:txBody>
      </p:sp>
      <p:sp>
        <p:nvSpPr>
          <p:cNvPr id="100" name="Text 84"/>
          <p:cNvSpPr/>
          <p:nvPr/>
        </p:nvSpPr>
        <p:spPr>
          <a:xfrm>
            <a:off x="30632400" y="16651224"/>
            <a:ext cx="1243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runs server-side with expected-output checking — safe and instant.</a:t>
            </a:r>
            <a:endParaRPr lang="en-US" sz="1800" dirty="0"/>
          </a:p>
        </p:txBody>
      </p:sp>
      <p:sp>
        <p:nvSpPr>
          <p:cNvPr id="101" name="Shape 85"/>
          <p:cNvSpPr/>
          <p:nvPr/>
        </p:nvSpPr>
        <p:spPr>
          <a:xfrm>
            <a:off x="30175200" y="17565624"/>
            <a:ext cx="256032" cy="256032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sp>
        <p:nvSpPr>
          <p:cNvPr id="102" name="Text 86"/>
          <p:cNvSpPr/>
          <p:nvPr/>
        </p:nvSpPr>
        <p:spPr>
          <a:xfrm>
            <a:off x="30632400" y="17382744"/>
            <a:ext cx="1243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61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 tracking</a:t>
            </a:r>
            <a:endParaRPr lang="en-US" sz="2000" dirty="0"/>
          </a:p>
        </p:txBody>
      </p:sp>
      <p:sp>
        <p:nvSpPr>
          <p:cNvPr id="103" name="Text 87"/>
          <p:cNvSpPr/>
          <p:nvPr/>
        </p:nvSpPr>
        <p:spPr>
          <a:xfrm>
            <a:off x="30632400" y="18022824"/>
            <a:ext cx="1243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only mark complete when both players have solved their stage.</a:t>
            </a:r>
            <a:endParaRPr lang="en-US" sz="1800" dirty="0"/>
          </a:p>
        </p:txBody>
      </p:sp>
      <p:sp>
        <p:nvSpPr>
          <p:cNvPr id="104" name="Shape 88"/>
          <p:cNvSpPr/>
          <p:nvPr/>
        </p:nvSpPr>
        <p:spPr>
          <a:xfrm>
            <a:off x="30175200" y="18937224"/>
            <a:ext cx="256032" cy="256032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sp>
        <p:nvSpPr>
          <p:cNvPr id="105" name="Text 89"/>
          <p:cNvSpPr/>
          <p:nvPr/>
        </p:nvSpPr>
        <p:spPr>
          <a:xfrm>
            <a:off x="30632400" y="18754344"/>
            <a:ext cx="1243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61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sessions</a:t>
            </a:r>
            <a:endParaRPr lang="en-US" sz="2000" dirty="0"/>
          </a:p>
        </p:txBody>
      </p:sp>
      <p:sp>
        <p:nvSpPr>
          <p:cNvPr id="106" name="Text 90"/>
          <p:cNvSpPr/>
          <p:nvPr/>
        </p:nvSpPr>
        <p:spPr>
          <a:xfrm>
            <a:off x="30632400" y="19394424"/>
            <a:ext cx="1243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can disconnect and rejoin without losing any progress.</a:t>
            </a:r>
            <a:endParaRPr lang="en-US" sz="1800" dirty="0"/>
          </a:p>
        </p:txBody>
      </p:sp>
      <p:sp>
        <p:nvSpPr>
          <p:cNvPr id="107" name="Shape 91"/>
          <p:cNvSpPr/>
          <p:nvPr/>
        </p:nvSpPr>
        <p:spPr>
          <a:xfrm>
            <a:off x="30175200" y="20308824"/>
            <a:ext cx="256032" cy="256032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sp>
        <p:nvSpPr>
          <p:cNvPr id="108" name="Text 92"/>
          <p:cNvSpPr/>
          <p:nvPr/>
        </p:nvSpPr>
        <p:spPr>
          <a:xfrm>
            <a:off x="30632400" y="20125944"/>
            <a:ext cx="1243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61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campus canvas</a:t>
            </a:r>
            <a:endParaRPr lang="en-US" sz="2000" dirty="0"/>
          </a:p>
        </p:txBody>
      </p:sp>
      <p:sp>
        <p:nvSpPr>
          <p:cNvPr id="109" name="Text 93"/>
          <p:cNvSpPr/>
          <p:nvPr/>
        </p:nvSpPr>
        <p:spPr>
          <a:xfrm>
            <a:off x="30632400" y="20766024"/>
            <a:ext cx="1243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HTML5 canvas shows buildings rise on the shared campus in real time.</a:t>
            </a:r>
            <a:endParaRPr lang="en-US" sz="1800" dirty="0"/>
          </a:p>
        </p:txBody>
      </p:sp>
      <p:sp>
        <p:nvSpPr>
          <p:cNvPr id="110" name="Shape 94"/>
          <p:cNvSpPr/>
          <p:nvPr/>
        </p:nvSpPr>
        <p:spPr>
          <a:xfrm>
            <a:off x="30175200" y="21680424"/>
            <a:ext cx="256032" cy="256032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sp>
        <p:nvSpPr>
          <p:cNvPr id="111" name="Text 95"/>
          <p:cNvSpPr/>
          <p:nvPr/>
        </p:nvSpPr>
        <p:spPr>
          <a:xfrm>
            <a:off x="30632400" y="21497544"/>
            <a:ext cx="1243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61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Builder mode</a:t>
            </a:r>
            <a:endParaRPr lang="en-US" sz="2000" dirty="0"/>
          </a:p>
        </p:txBody>
      </p:sp>
      <p:sp>
        <p:nvSpPr>
          <p:cNvPr id="112" name="Text 96"/>
          <p:cNvSpPr/>
          <p:nvPr/>
        </p:nvSpPr>
        <p:spPr>
          <a:xfrm>
            <a:off x="30632400" y="22137624"/>
            <a:ext cx="1243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solo AI partner completes the Builder's task so anyone can practice alone.</a:t>
            </a:r>
            <a:endParaRPr lang="en-US" sz="1800" dirty="0"/>
          </a:p>
        </p:txBody>
      </p:sp>
      <p:sp>
        <p:nvSpPr>
          <p:cNvPr id="113" name="Shape 97"/>
          <p:cNvSpPr/>
          <p:nvPr/>
        </p:nvSpPr>
        <p:spPr>
          <a:xfrm>
            <a:off x="29718000" y="23554944"/>
            <a:ext cx="137160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E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14" name="Shape 98"/>
          <p:cNvSpPr/>
          <p:nvPr/>
        </p:nvSpPr>
        <p:spPr>
          <a:xfrm>
            <a:off x="29718000" y="23554944"/>
            <a:ext cx="13716000" cy="868680"/>
          </a:xfrm>
          <a:prstGeom prst="rect">
            <a:avLst/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115" name="Shape 99"/>
          <p:cNvSpPr/>
          <p:nvPr/>
        </p:nvSpPr>
        <p:spPr>
          <a:xfrm>
            <a:off x="29718000" y="24423624"/>
            <a:ext cx="13716000" cy="54864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pic>
        <p:nvPicPr>
          <p:cNvPr id="1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974032" y="23728680"/>
            <a:ext cx="521208" cy="521208"/>
          </a:xfrm>
          <a:prstGeom prst="rect">
            <a:avLst/>
          </a:prstGeom>
        </p:spPr>
      </p:pic>
      <p:sp>
        <p:nvSpPr>
          <p:cNvPr id="117" name="Text 100"/>
          <p:cNvSpPr/>
          <p:nvPr/>
        </p:nvSpPr>
        <p:spPr>
          <a:xfrm>
            <a:off x="30632400" y="23554944"/>
            <a:ext cx="1271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118" name="Shape 101"/>
          <p:cNvSpPr/>
          <p:nvPr/>
        </p:nvSpPr>
        <p:spPr>
          <a:xfrm>
            <a:off x="30175200" y="24606504"/>
            <a:ext cx="2185416" cy="749808"/>
          </a:xfrm>
          <a:prstGeom prst="roundRect">
            <a:avLst>
              <a:gd name="adj" fmla="val 14634"/>
            </a:avLst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119" name="Text 102"/>
          <p:cNvSpPr/>
          <p:nvPr/>
        </p:nvSpPr>
        <p:spPr>
          <a:xfrm>
            <a:off x="30175200" y="24606504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700" dirty="0"/>
          </a:p>
        </p:txBody>
      </p:sp>
      <p:sp>
        <p:nvSpPr>
          <p:cNvPr id="120" name="Shape 103"/>
          <p:cNvSpPr/>
          <p:nvPr/>
        </p:nvSpPr>
        <p:spPr>
          <a:xfrm>
            <a:off x="32561784" y="24606504"/>
            <a:ext cx="1828800" cy="749808"/>
          </a:xfrm>
          <a:prstGeom prst="roundRect">
            <a:avLst>
              <a:gd name="adj" fmla="val 14634"/>
            </a:avLst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121" name="Text 104"/>
          <p:cNvSpPr/>
          <p:nvPr/>
        </p:nvSpPr>
        <p:spPr>
          <a:xfrm>
            <a:off x="32561784" y="2460650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700" dirty="0"/>
          </a:p>
        </p:txBody>
      </p:sp>
      <p:sp>
        <p:nvSpPr>
          <p:cNvPr id="122" name="Shape 105"/>
          <p:cNvSpPr/>
          <p:nvPr/>
        </p:nvSpPr>
        <p:spPr>
          <a:xfrm>
            <a:off x="34591752" y="24606504"/>
            <a:ext cx="2788920" cy="749808"/>
          </a:xfrm>
          <a:prstGeom prst="roundRect">
            <a:avLst>
              <a:gd name="adj" fmla="val 14634"/>
            </a:avLst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123" name="Text 106"/>
          <p:cNvSpPr/>
          <p:nvPr/>
        </p:nvSpPr>
        <p:spPr>
          <a:xfrm>
            <a:off x="34591752" y="24606504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700" dirty="0"/>
          </a:p>
        </p:txBody>
      </p:sp>
      <p:sp>
        <p:nvSpPr>
          <p:cNvPr id="124" name="Shape 107"/>
          <p:cNvSpPr/>
          <p:nvPr/>
        </p:nvSpPr>
        <p:spPr>
          <a:xfrm>
            <a:off x="37581840" y="24606504"/>
            <a:ext cx="3191256" cy="749808"/>
          </a:xfrm>
          <a:prstGeom prst="roundRect">
            <a:avLst>
              <a:gd name="adj" fmla="val 14634"/>
            </a:avLst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125" name="Text 108"/>
          <p:cNvSpPr/>
          <p:nvPr/>
        </p:nvSpPr>
        <p:spPr>
          <a:xfrm>
            <a:off x="37581840" y="24606504"/>
            <a:ext cx="3191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700" dirty="0"/>
          </a:p>
        </p:txBody>
      </p:sp>
      <p:sp>
        <p:nvSpPr>
          <p:cNvPr id="126" name="Shape 109"/>
          <p:cNvSpPr/>
          <p:nvPr/>
        </p:nvSpPr>
        <p:spPr>
          <a:xfrm>
            <a:off x="30175200" y="25658064"/>
            <a:ext cx="2185416" cy="749808"/>
          </a:xfrm>
          <a:prstGeom prst="roundRect">
            <a:avLst>
              <a:gd name="adj" fmla="val 14634"/>
            </a:avLst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127" name="Text 110"/>
          <p:cNvSpPr/>
          <p:nvPr/>
        </p:nvSpPr>
        <p:spPr>
          <a:xfrm>
            <a:off x="30175200" y="25658064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700" dirty="0"/>
          </a:p>
        </p:txBody>
      </p:sp>
      <p:sp>
        <p:nvSpPr>
          <p:cNvPr id="128" name="Shape 111"/>
          <p:cNvSpPr/>
          <p:nvPr/>
        </p:nvSpPr>
        <p:spPr>
          <a:xfrm>
            <a:off x="32561784" y="25658064"/>
            <a:ext cx="2185416" cy="749808"/>
          </a:xfrm>
          <a:prstGeom prst="roundRect">
            <a:avLst>
              <a:gd name="adj" fmla="val 14634"/>
            </a:avLst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129" name="Text 112"/>
          <p:cNvSpPr/>
          <p:nvPr/>
        </p:nvSpPr>
        <p:spPr>
          <a:xfrm>
            <a:off x="32561784" y="25658064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700" dirty="0"/>
          </a:p>
        </p:txBody>
      </p:sp>
      <p:sp>
        <p:nvSpPr>
          <p:cNvPr id="130" name="Shape 113"/>
          <p:cNvSpPr/>
          <p:nvPr/>
        </p:nvSpPr>
        <p:spPr>
          <a:xfrm>
            <a:off x="34948368" y="25658064"/>
            <a:ext cx="2587752" cy="749808"/>
          </a:xfrm>
          <a:prstGeom prst="roundRect">
            <a:avLst>
              <a:gd name="adj" fmla="val 14634"/>
            </a:avLst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131" name="Text 114"/>
          <p:cNvSpPr/>
          <p:nvPr/>
        </p:nvSpPr>
        <p:spPr>
          <a:xfrm>
            <a:off x="34948368" y="25658064"/>
            <a:ext cx="2587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700" dirty="0"/>
          </a:p>
        </p:txBody>
      </p:sp>
      <p:sp>
        <p:nvSpPr>
          <p:cNvPr id="132" name="Shape 115"/>
          <p:cNvSpPr/>
          <p:nvPr/>
        </p:nvSpPr>
        <p:spPr>
          <a:xfrm>
            <a:off x="37737288" y="25658064"/>
            <a:ext cx="2788920" cy="749808"/>
          </a:xfrm>
          <a:prstGeom prst="roundRect">
            <a:avLst>
              <a:gd name="adj" fmla="val 14634"/>
            </a:avLst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133" name="Text 116"/>
          <p:cNvSpPr/>
          <p:nvPr/>
        </p:nvSpPr>
        <p:spPr>
          <a:xfrm>
            <a:off x="37737288" y="25658064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134" name="Shape 117"/>
          <p:cNvSpPr/>
          <p:nvPr/>
        </p:nvSpPr>
        <p:spPr>
          <a:xfrm>
            <a:off x="40727376" y="25658064"/>
            <a:ext cx="1984248" cy="749808"/>
          </a:xfrm>
          <a:prstGeom prst="roundRect">
            <a:avLst>
              <a:gd name="adj" fmla="val 14634"/>
            </a:avLst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135" name="Text 118"/>
          <p:cNvSpPr/>
          <p:nvPr/>
        </p:nvSpPr>
        <p:spPr>
          <a:xfrm>
            <a:off x="40727376" y="25658064"/>
            <a:ext cx="19842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700" dirty="0"/>
          </a:p>
        </p:txBody>
      </p:sp>
      <p:sp>
        <p:nvSpPr>
          <p:cNvPr id="136" name="Shape 119"/>
          <p:cNvSpPr/>
          <p:nvPr/>
        </p:nvSpPr>
        <p:spPr>
          <a:xfrm>
            <a:off x="29718000" y="27166824"/>
            <a:ext cx="1371600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E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37" name="Shape 120"/>
          <p:cNvSpPr/>
          <p:nvPr/>
        </p:nvSpPr>
        <p:spPr>
          <a:xfrm>
            <a:off x="29718000" y="27166824"/>
            <a:ext cx="13716000" cy="868680"/>
          </a:xfrm>
          <a:prstGeom prst="rect">
            <a:avLst/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138" name="Shape 121"/>
          <p:cNvSpPr/>
          <p:nvPr/>
        </p:nvSpPr>
        <p:spPr>
          <a:xfrm>
            <a:off x="29718000" y="28035504"/>
            <a:ext cx="13716000" cy="54864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pic>
        <p:nvPicPr>
          <p:cNvPr id="1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974032" y="27340560"/>
            <a:ext cx="521208" cy="521208"/>
          </a:xfrm>
          <a:prstGeom prst="rect">
            <a:avLst/>
          </a:prstGeom>
        </p:spPr>
      </p:pic>
      <p:sp>
        <p:nvSpPr>
          <p:cNvPr id="140" name="Text 122"/>
          <p:cNvSpPr/>
          <p:nvPr/>
        </p:nvSpPr>
        <p:spPr>
          <a:xfrm>
            <a:off x="30632400" y="27166824"/>
            <a:ext cx="1271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141" name="Text 123"/>
          <p:cNvSpPr/>
          <p:nvPr/>
        </p:nvSpPr>
        <p:spPr>
          <a:xfrm>
            <a:off x="30175200" y="28172664"/>
            <a:ext cx="128930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Adaptive difficulty from solve times and hint usage
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Instructor dashboards for classroom deployment
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Multi-language support (JavaScript, Java)
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Accessibility: keyboard-only play, screen-reader support
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Longitudinal study: retention vs. solo IDE practice</a:t>
            </a:r>
            <a:endParaRPr lang="en-US" sz="2000" dirty="0"/>
          </a:p>
        </p:txBody>
      </p:sp>
      <p:sp>
        <p:nvSpPr>
          <p:cNvPr id="142" name="Shape 124"/>
          <p:cNvSpPr/>
          <p:nvPr/>
        </p:nvSpPr>
        <p:spPr>
          <a:xfrm>
            <a:off x="0" y="30979872"/>
            <a:ext cx="43616880" cy="109728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sp>
        <p:nvSpPr>
          <p:cNvPr id="143" name="Shape 125"/>
          <p:cNvSpPr/>
          <p:nvPr/>
        </p:nvSpPr>
        <p:spPr>
          <a:xfrm>
            <a:off x="0" y="31894272"/>
            <a:ext cx="43891200" cy="109728"/>
          </a:xfrm>
          <a:prstGeom prst="rect">
            <a:avLst/>
          </a:prstGeom>
          <a:solidFill>
            <a:srgbClr val="EEB211"/>
          </a:solidFill>
          <a:ln w="12700">
            <a:solidFill>
              <a:srgbClr val="EEB211"/>
            </a:solidFill>
            <a:prstDash val="solid"/>
          </a:ln>
        </p:spPr>
      </p:sp>
      <p:sp>
        <p:nvSpPr>
          <p:cNvPr id="144" name="Shape 126"/>
          <p:cNvSpPr/>
          <p:nvPr/>
        </p:nvSpPr>
        <p:spPr>
          <a:xfrm>
            <a:off x="0" y="32004000"/>
            <a:ext cx="43891200" cy="914400"/>
          </a:xfrm>
          <a:prstGeom prst="rect">
            <a:avLst/>
          </a:prstGeom>
          <a:solidFill>
            <a:srgbClr val="461660"/>
          </a:solidFill>
          <a:ln w="12700">
            <a:solidFill>
              <a:srgbClr val="461660"/>
            </a:solidFill>
            <a:prstDash val="solid"/>
          </a:ln>
        </p:spPr>
      </p:sp>
      <p:sp>
        <p:nvSpPr>
          <p:cNvPr id="145" name="Text 127"/>
          <p:cNvSpPr/>
          <p:nvPr/>
        </p:nvSpPr>
        <p:spPr>
          <a:xfrm>
            <a:off x="640080" y="32004000"/>
            <a:ext cx="2926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CodeCrafters  ·  Team B  ·  UAlbany Showcase Day  ·  CSI 680 — Software Engineering</a:t>
            </a:r>
            <a:endParaRPr lang="en-US" sz="2000" dirty="0"/>
          </a:p>
        </p:txBody>
      </p:sp>
      <p:sp>
        <p:nvSpPr>
          <p:cNvPr id="146" name="Text 128"/>
          <p:cNvSpPr/>
          <p:nvPr/>
        </p:nvSpPr>
        <p:spPr>
          <a:xfrm>
            <a:off x="30175200" y="32004000"/>
            <a:ext cx="1307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F6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 Mekala  ·  Sai Satwik Bikumandla  ·  Mehak Seth  ·  Dileep Reddy Chinneluka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CodeCrafters — UAlbany Showcase</dc:title>
  <dc:subject>PptxGenJS Presentation</dc:subject>
  <dc:creator>CodeCrafters Team</dc:creator>
  <cp:lastModifiedBy>CodeCrafters Team</cp:lastModifiedBy>
  <cp:revision>1</cp:revision>
  <dcterms:created xsi:type="dcterms:W3CDTF">2026-04-14T01:29:57Z</dcterms:created>
  <dcterms:modified xsi:type="dcterms:W3CDTF">2026-04-14T01:29:57Z</dcterms:modified>
</cp:coreProperties>
</file>